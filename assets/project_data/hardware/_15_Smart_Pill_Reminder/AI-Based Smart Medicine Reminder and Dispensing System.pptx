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02ccdd4d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02ccdd4d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02ccdd4d2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02ccdd4d2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95256e79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95256e79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95256e79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95256e79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95256e7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95256e7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02ccdd4d2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02ccdd4d2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95256e79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95256e79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02ccdd4d2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02ccdd4d2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02ccdd4d2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02ccdd4d2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b701f2dc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3b701f2dc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b701f2dc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b701f2dc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95256e79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95256e79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2ccdd4d2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02ccdd4d2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rgbClr val="000000"/>
              </a:buClr>
              <a:buSzPts val="990"/>
              <a:buFont typeface="Arial"/>
              <a:buNone/>
            </a:pPr>
            <a:r>
              <a:rPr b="1" lang="en" sz="2980"/>
              <a:t>AI-Based Smart Medicine Reminder and Dispensing System</a:t>
            </a:r>
            <a:endParaRPr b="1" sz="2980"/>
          </a:p>
        </p:txBody>
      </p:sp>
      <p:sp>
        <p:nvSpPr>
          <p:cNvPr id="55" name="Google Shape;55;p13"/>
          <p:cNvSpPr txBox="1"/>
          <p:nvPr>
            <p:ph idx="1" type="subTitle"/>
          </p:nvPr>
        </p:nvSpPr>
        <p:spPr>
          <a:xfrm>
            <a:off x="-145500" y="32913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r">
              <a:spcBef>
                <a:spcPts val="0"/>
              </a:spcBef>
              <a:spcAft>
                <a:spcPts val="0"/>
              </a:spcAft>
              <a:buClr>
                <a:schemeClr val="dk1"/>
              </a:buClr>
              <a:buSzPct val="39286"/>
              <a:buFont typeface="Arial"/>
              <a:buNone/>
            </a:pPr>
            <a:r>
              <a:rPr lang="en"/>
              <a:t>Name 1 - Roll Number 1</a:t>
            </a:r>
            <a:endParaRPr/>
          </a:p>
          <a:p>
            <a:pPr indent="0" lvl="0" marL="0" rtl="0" algn="r">
              <a:spcBef>
                <a:spcPts val="0"/>
              </a:spcBef>
              <a:spcAft>
                <a:spcPts val="0"/>
              </a:spcAft>
              <a:buClr>
                <a:schemeClr val="dk1"/>
              </a:buClr>
              <a:buSzPct val="39286"/>
              <a:buFont typeface="Arial"/>
              <a:buNone/>
            </a:pPr>
            <a:r>
              <a:rPr lang="en"/>
              <a:t>Name 2 - Roll Number 2</a:t>
            </a:r>
            <a:endParaRPr/>
          </a:p>
          <a:p>
            <a:pPr indent="0" lvl="0" marL="0" rtl="0" algn="r">
              <a:spcBef>
                <a:spcPts val="0"/>
              </a:spcBef>
              <a:spcAft>
                <a:spcPts val="0"/>
              </a:spcAft>
              <a:buNone/>
            </a:pPr>
            <a:r>
              <a:rPr lang="en"/>
              <a:t>Name 3 - Roll Number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Abstract</a:t>
            </a:r>
            <a:endParaRPr b="1"/>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1200"/>
              </a:spcBef>
              <a:spcAft>
                <a:spcPts val="0"/>
              </a:spcAft>
              <a:buClr>
                <a:schemeClr val="dk1"/>
              </a:buClr>
              <a:buSzPct val="61111"/>
              <a:buFont typeface="Arial"/>
              <a:buNone/>
            </a:pPr>
            <a:r>
              <a:rPr lang="en"/>
              <a:t>The AI-Based Smart Medicine Reminder and Dispensing System is designed to automate medication management for individuals requiring regular medicine intake. The proposed system stores predefined medication schedules and automatically dispenses the appropriate medicine compartment at the scheduled time while generating audible and visual reminders. Artificial intelligence can be utilized to analyze medication adherence patterns, predict missed doses, and generate health insights for caregivers. The system integrates embedded controllers, servo-based dispensing mechanisms, RTC modules for accurate scheduling, sensors for dispensing confirmation, and IoT connectivity for remote monitoring. The proposed solution minimizes medication errors, enhances treatment compliance, and supports elderly patients living independently. By combining intelligent automation with healthcare monitoring, the project offers a reliable, cost-effective, and scalable solution suitable for homes, assisted living facilities, and healthcare institutions.</a:t>
            </a:r>
            <a:endParaRPr/>
          </a:p>
          <a:p>
            <a:pPr indent="0" lvl="0" marL="0" rtl="0" algn="just">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Problem Statement</a:t>
            </a:r>
            <a:endParaRPr b="1"/>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1200"/>
              </a:spcBef>
              <a:spcAft>
                <a:spcPts val="1200"/>
              </a:spcAft>
              <a:buNone/>
            </a:pPr>
            <a:r>
              <a:rPr lang="en"/>
              <a:t>Medication non-adherence is a major healthcare challenge, particularly among elderly individuals, patients with chronic illnesses, and those prescribed multiple medications. Missing doses, taking incorrect medicines, or consuming medicines at the wrong time can reduce treatment effectiveness and lead to severe health complications. Existing reminder solutions mainly provide notifications but do not ensure accurate dispensing. Therefore, an intelligent automated medicine dispensing system is required to improve medication adherence, reduce human errors, and support independent healthcare management.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Background &amp; Literature</a:t>
            </a:r>
            <a:endParaRPr b="1"/>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just">
              <a:spcBef>
                <a:spcPts val="1200"/>
              </a:spcBef>
              <a:spcAft>
                <a:spcPts val="1200"/>
              </a:spcAft>
              <a:buNone/>
            </a:pPr>
            <a:r>
              <a:rPr lang="en"/>
              <a:t>Healthcare automation has witnessed significant advancements through the integration of IoT, embedded systems, and artificial intelligence. Traditional medicine organizers and mobile reminder applications help users remember medication schedules but still rely heavily on manual intervention. Smart pillboxes introduced automated alarms; however, they generally lack intelligent scheduling, dispensing verification, and remote monitoring capabilities. Recent research has explored AI-enabled healthcare devices capable of analyzing medication patterns and providing personalized reminders. Nevertheless, many existing solutions remain expensive, require continuous internet connectivity, or are designed for hospital environments rather than home use. There is a growing demand for an affordable, user-friendly, and autonomous medicine management system capable of accurately dispensing medicines while providing timely reminders and maintaining medication records. This project aims to bridge these gaps by combining intelligent scheduling, automated dispensing, and real-time monitoring within a compact embedded 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Objectives</a:t>
            </a:r>
            <a:endParaRPr b="1"/>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1200"/>
              </a:spcBef>
              <a:spcAft>
                <a:spcPts val="0"/>
              </a:spcAft>
              <a:buSzPts val="1800"/>
              <a:buChar char="●"/>
            </a:pPr>
            <a:r>
              <a:rPr lang="en"/>
              <a:t>Develop an intelligent system that automatically reminds users and dispenses medicines according to predefined schedules.</a:t>
            </a:r>
            <a:endParaRPr/>
          </a:p>
          <a:p>
            <a:pPr indent="-342900" lvl="0" marL="457200" rtl="0" algn="just">
              <a:spcBef>
                <a:spcPts val="0"/>
              </a:spcBef>
              <a:spcAft>
                <a:spcPts val="0"/>
              </a:spcAft>
              <a:buSzPts val="1800"/>
              <a:buChar char="●"/>
            </a:pPr>
            <a:r>
              <a:rPr lang="en"/>
              <a:t>Improve medication adherence by reducing missed doses, dosage errors, and dependency on manual supervision.</a:t>
            </a:r>
            <a:endParaRPr/>
          </a:p>
          <a:p>
            <a:pPr indent="-342900" lvl="0" marL="457200" rtl="0" algn="just">
              <a:spcBef>
                <a:spcPts val="0"/>
              </a:spcBef>
              <a:spcAft>
                <a:spcPts val="0"/>
              </a:spcAft>
              <a:buSzPts val="1800"/>
              <a:buChar char="●"/>
            </a:pPr>
            <a:r>
              <a:rPr lang="en"/>
              <a:t>Implement real-time scheduling, alerts, medication history tracking, and caregiver notifications.</a:t>
            </a:r>
            <a:endParaRPr/>
          </a:p>
          <a:p>
            <a:pPr indent="-342900" lvl="0" marL="457200" rtl="0" algn="just">
              <a:spcBef>
                <a:spcPts val="0"/>
              </a:spcBef>
              <a:spcAft>
                <a:spcPts val="0"/>
              </a:spcAft>
              <a:buSzPts val="1800"/>
              <a:buChar char="●"/>
            </a:pPr>
            <a:r>
              <a:rPr lang="en"/>
              <a:t>Enable IoT-based remote monitoring with future support for AI analytics, voice assistance, and cloud healthcare integration.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Motivation &amp; Need</a:t>
            </a:r>
            <a:endParaRPr b="1"/>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1200"/>
              </a:spcBef>
              <a:spcAft>
                <a:spcPts val="1200"/>
              </a:spcAft>
              <a:buNone/>
            </a:pPr>
            <a:r>
              <a:rPr lang="en"/>
              <a:t>The increasing number of patients suffering from chronic diseases has significantly increased the need for effective medication management systems. Elderly individuals often struggle to remember multiple medicine schedules, resulting in missed doses or accidental overdoses. Family members and healthcare providers cannot continuously supervise medication intake, creating a demand for automated healthcare solutions. Existing reminder applications only notify users but cannot verify whether medicines have actually been dispensed. Engineering advancements in embedded systems, IoT, and artificial intelligence provide an opportunity to develop an affordable autonomous medicine management device capable of addressing these challenges. This project demonstrates the practical application of intelligent automation in healthcare while improving patient safety, reducing caregiver workload, and supporting independent living. It also aligns with the growing trend of smart healthcare and home-based medical assistance.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Execution Summary</a:t>
            </a:r>
            <a:endParaRPr b="1"/>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just">
              <a:spcBef>
                <a:spcPts val="1200"/>
              </a:spcBef>
              <a:spcAft>
                <a:spcPts val="0"/>
              </a:spcAft>
              <a:buClr>
                <a:schemeClr val="dk1"/>
              </a:buClr>
              <a:buSzPts val="2100"/>
              <a:buChar char="●"/>
            </a:pPr>
            <a:r>
              <a:rPr lang="en" sz="1700">
                <a:solidFill>
                  <a:schemeClr val="dk1"/>
                </a:solidFill>
              </a:rPr>
              <a:t>Store personalized medicine schedules securely.</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Monitor time using RTC module.</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Dispense medicines automatically at scheduled intervals.</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Notify users and caregivers in real time.</a:t>
            </a:r>
            <a:endParaRPr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Features &amp; Functional Specifications</a:t>
            </a:r>
            <a:endParaRPr b="1"/>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just">
              <a:spcBef>
                <a:spcPts val="1200"/>
              </a:spcBef>
              <a:spcAft>
                <a:spcPts val="0"/>
              </a:spcAft>
              <a:buClr>
                <a:schemeClr val="dk1"/>
              </a:buClr>
              <a:buSzPts val="2100"/>
              <a:buChar char="●"/>
            </a:pPr>
            <a:r>
              <a:rPr lang="en" sz="1700">
                <a:solidFill>
                  <a:schemeClr val="dk1"/>
                </a:solidFill>
              </a:rPr>
              <a:t>Automated Medicine Dispensing</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Intelligent Medication Scheduling</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Audio and Visual Reminder Alerts</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AI-Based Medication Analytics</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IoT-Based Remote Monitoring</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User-Friendly Interface</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Secure Medicine Storage</a:t>
            </a:r>
            <a:endParaRPr sz="1700">
              <a:solidFill>
                <a:schemeClr val="dk1"/>
              </a:solidFill>
            </a:endParaRPr>
          </a:p>
          <a:p>
            <a:pPr indent="-361950" lvl="0" marL="457200" rtl="0" algn="just">
              <a:spcBef>
                <a:spcPts val="0"/>
              </a:spcBef>
              <a:spcAft>
                <a:spcPts val="0"/>
              </a:spcAft>
              <a:buClr>
                <a:schemeClr val="dk1"/>
              </a:buClr>
              <a:buSzPts val="2100"/>
              <a:buChar char="●"/>
            </a:pPr>
            <a:r>
              <a:rPr lang="en" sz="1700">
                <a:solidFill>
                  <a:schemeClr val="dk1"/>
                </a:solidFill>
              </a:rPr>
              <a:t>Expandable Modular Architecture</a:t>
            </a:r>
            <a:endParaRPr sz="17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Block Diagram</a:t>
            </a:r>
            <a:endParaRPr b="1"/>
          </a:p>
        </p:txBody>
      </p:sp>
      <p:pic>
        <p:nvPicPr>
          <p:cNvPr id="103" name="Google Shape;103;p21"/>
          <p:cNvPicPr preferRelativeResize="0"/>
          <p:nvPr/>
        </p:nvPicPr>
        <p:blipFill>
          <a:blip r:embed="rId3">
            <a:alphaModFix/>
          </a:blip>
          <a:stretch>
            <a:fillRect/>
          </a:stretch>
        </p:blipFill>
        <p:spPr>
          <a:xfrm>
            <a:off x="766700" y="712925"/>
            <a:ext cx="7610600" cy="4125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 Advantages</a:t>
            </a:r>
            <a:endParaRPr b="1"/>
          </a:p>
        </p:txBody>
      </p:sp>
      <p:sp>
        <p:nvSpPr>
          <p:cNvPr id="109" name="Google Shape;109;p22"/>
          <p:cNvSpPr txBox="1"/>
          <p:nvPr>
            <p:ph idx="1" type="body"/>
          </p:nvPr>
        </p:nvSpPr>
        <p:spPr>
          <a:xfrm>
            <a:off x="540300" y="1152475"/>
            <a:ext cx="7996800" cy="3416400"/>
          </a:xfrm>
          <a:prstGeom prst="rect">
            <a:avLst/>
          </a:prstGeom>
        </p:spPr>
        <p:txBody>
          <a:bodyPr anchorCtr="0" anchor="t" bIns="91425" lIns="91425" spcFirstLastPara="1" rIns="91425" wrap="square" tIns="91425">
            <a:normAutofit lnSpcReduction="20000"/>
          </a:bodyPr>
          <a:lstStyle/>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Improves medication adherence.</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Reduces medicine dosage errors.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Supports elderly and disabled patients.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Minimizes caregiver workload.</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Provides automated medicine dispensing.</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Enables remote monitoring through IoT.</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Generates intelligent medication reports.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Affordable and easy to operate.</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Scalable for future healthcare features.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Enhances patient safety and treatment effectiveness.</a:t>
            </a:r>
            <a:endParaRPr sz="15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 </a:t>
            </a:r>
            <a:r>
              <a:rPr b="1" lang="en"/>
              <a:t>Limitations</a:t>
            </a:r>
            <a:endParaRPr b="1"/>
          </a:p>
        </p:txBody>
      </p:sp>
      <p:sp>
        <p:nvSpPr>
          <p:cNvPr id="115" name="Google Shape;115;p23"/>
          <p:cNvSpPr txBox="1"/>
          <p:nvPr>
            <p:ph idx="1" type="body"/>
          </p:nvPr>
        </p:nvSpPr>
        <p:spPr>
          <a:xfrm>
            <a:off x="540300" y="1152475"/>
            <a:ext cx="7996800" cy="3416400"/>
          </a:xfrm>
          <a:prstGeom prst="rect">
            <a:avLst/>
          </a:prstGeom>
        </p:spPr>
        <p:txBody>
          <a:bodyPr anchorCtr="0" anchor="t" bIns="91425" lIns="91425" spcFirstLastPara="1" rIns="91425" wrap="square" tIns="91425">
            <a:normAutofit/>
          </a:bodyPr>
          <a:lstStyle/>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Requires periodic medicine refilling.</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Mechanical dispensing may require calibration.</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AI accuracy depends on collected medication data.</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Internet connectivity required for remote monitoring.</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Limited compartment capacity.</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Power backup required for uninterrupted operation.</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Different medicine sizes may require customized dispensing mechanisms.</a:t>
            </a:r>
            <a:endParaRPr sz="1500">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 Application</a:t>
            </a:r>
            <a:endParaRPr b="1"/>
          </a:p>
        </p:txBody>
      </p:sp>
      <p:sp>
        <p:nvSpPr>
          <p:cNvPr id="121" name="Google Shape;121;p24"/>
          <p:cNvSpPr txBox="1"/>
          <p:nvPr>
            <p:ph idx="1" type="body"/>
          </p:nvPr>
        </p:nvSpPr>
        <p:spPr>
          <a:xfrm>
            <a:off x="540300" y="1152475"/>
            <a:ext cx="7996800" cy="3416400"/>
          </a:xfrm>
          <a:prstGeom prst="rect">
            <a:avLst/>
          </a:prstGeom>
        </p:spPr>
        <p:txBody>
          <a:bodyPr anchorCtr="0" anchor="t" bIns="91425" lIns="91425" spcFirstLastPara="1" rIns="91425" wrap="square" tIns="91425">
            <a:normAutofit lnSpcReduction="20000"/>
          </a:bodyPr>
          <a:lstStyle/>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Elderly home healthcare.</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Hospitals and healthcare centers.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Assisted living facilities.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Rehabilitation centers.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Chronic disease management.</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Home nursing services.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Remote patient monitoring.</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Smart healthcare ecosystems.</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Pharmaceutical automation research.</a:t>
            </a:r>
            <a:endParaRPr sz="1500">
              <a:solidFill>
                <a:schemeClr val="dk1"/>
              </a:solidFill>
              <a:latin typeface="Roboto"/>
              <a:ea typeface="Roboto"/>
              <a:cs typeface="Roboto"/>
              <a:sym typeface="Roboto"/>
            </a:endParaRPr>
          </a:p>
          <a:p>
            <a:pPr indent="-361950" lvl="0" marL="457200" rtl="0" algn="just">
              <a:spcBef>
                <a:spcPts val="0"/>
              </a:spcBef>
              <a:spcAft>
                <a:spcPts val="0"/>
              </a:spcAft>
              <a:buClr>
                <a:schemeClr val="dk1"/>
              </a:buClr>
              <a:buSzPts val="2100"/>
              <a:buChar char="●"/>
            </a:pPr>
            <a:r>
              <a:rPr lang="en" sz="1500">
                <a:solidFill>
                  <a:schemeClr val="dk1"/>
                </a:solidFill>
                <a:latin typeface="Roboto"/>
                <a:ea typeface="Roboto"/>
                <a:cs typeface="Roboto"/>
                <a:sym typeface="Roboto"/>
              </a:rPr>
              <a:t>Medical IoT educational projects.</a:t>
            </a:r>
            <a:endParaRPr sz="15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 References</a:t>
            </a:r>
            <a:endParaRPr b="1"/>
          </a:p>
        </p:txBody>
      </p:sp>
      <p:sp>
        <p:nvSpPr>
          <p:cNvPr id="127" name="Google Shape;127;p25"/>
          <p:cNvSpPr txBox="1"/>
          <p:nvPr>
            <p:ph idx="1" type="body"/>
          </p:nvPr>
        </p:nvSpPr>
        <p:spPr>
          <a:xfrm>
            <a:off x="88246" y="1152475"/>
            <a:ext cx="9499200" cy="3416400"/>
          </a:xfrm>
          <a:prstGeom prst="rect">
            <a:avLst/>
          </a:prstGeom>
        </p:spPr>
        <p:txBody>
          <a:bodyPr anchorCtr="0" anchor="t" bIns="91425" lIns="91425" spcFirstLastPara="1" rIns="91425" wrap="square" tIns="91425">
            <a:normAutofit fontScale="92500" lnSpcReduction="20000"/>
          </a:bodyPr>
          <a:lstStyle/>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https://eurekamag.com/research/105/916/105916150.php</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https://pubmed.ncbi.nlm.nih.gov/34795001/</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https://www.sciencedirect.com/science/article/pii/S2214785320377543</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https://pmc.ncbi.nlm.nih.gov/articles/PMC11052969/</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https://www.ijraset.com/research-paper/smart-medicine-reminder-and-healthcare-assistance-system</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https://link.springer.com/article/10.1186/s40780-022-00255-w</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https://arxiv.org/abs/1711.09739</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https://pubmed.ncbi.nlm.nih.gov/29081939/</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https://journals.sagepub.com/doi/10.1177/17298814211022539</a:t>
            </a:r>
            <a:endParaRPr sz="1500">
              <a:solidFill>
                <a:schemeClr val="dk1"/>
              </a:solidFill>
              <a:latin typeface="Roboto"/>
              <a:ea typeface="Roboto"/>
              <a:cs typeface="Roboto"/>
              <a:sym typeface="Roboto"/>
            </a:endParaRPr>
          </a:p>
          <a:p>
            <a:pPr indent="-351949" lvl="0" marL="457200" rtl="0" algn="just">
              <a:spcBef>
                <a:spcPts val="0"/>
              </a:spcBef>
              <a:spcAft>
                <a:spcPts val="0"/>
              </a:spcAft>
              <a:buClr>
                <a:schemeClr val="dk1"/>
              </a:buClr>
              <a:buSzPct val="140000"/>
              <a:buChar char="●"/>
            </a:pPr>
            <a:r>
              <a:rPr lang="en" sz="1500">
                <a:solidFill>
                  <a:schemeClr val="dk1"/>
                </a:solidFill>
                <a:latin typeface="Roboto"/>
                <a:ea typeface="Roboto"/>
                <a:cs typeface="Roboto"/>
                <a:sym typeface="Roboto"/>
              </a:rPr>
              <a:t>    https://cir.nii.ac.jp/crid/1360011144257032448</a:t>
            </a:r>
            <a:endParaRPr sz="1500">
              <a:solidFill>
                <a:schemeClr val="dk1"/>
              </a:solidFill>
              <a:latin typeface="Roboto"/>
              <a:ea typeface="Roboto"/>
              <a:cs typeface="Roboto"/>
              <a:sym typeface="Roboto"/>
            </a:endParaRPr>
          </a:p>
          <a:p>
            <a:pPr indent="0" lvl="0" marL="0" rtl="0" algn="just">
              <a:spcBef>
                <a:spcPts val="0"/>
              </a:spcBef>
              <a:spcAft>
                <a:spcPts val="0"/>
              </a:spcAft>
              <a:buNone/>
            </a:pPr>
            <a:r>
              <a:t/>
            </a:r>
            <a:endParaRPr sz="1500">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2339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820"/>
              <a:t>Thank You</a:t>
            </a:r>
            <a:endParaRPr b="1" sz="382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